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76187" autoAdjust="0"/>
  </p:normalViewPr>
  <p:slideViewPr>
    <p:cSldViewPr snapToGrid="0">
      <p:cViewPr varScale="1">
        <p:scale>
          <a:sx n="84" d="100"/>
          <a:sy n="84" d="100"/>
        </p:scale>
        <p:origin x="988" y="64"/>
      </p:cViewPr>
      <p:guideLst/>
    </p:cSldViewPr>
  </p:slideViewPr>
  <p:notesTextViewPr>
    <p:cViewPr>
      <p:scale>
        <a:sx n="1" d="1"/>
        <a:sy n="1" d="1"/>
      </p:scale>
      <p:origin x="0" y="-26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0DA93C-7D48-44C3-89F5-B64E45B1D75E}" type="datetimeFigureOut">
              <a:rPr lang="en-DK" smtClean="0"/>
              <a:t>10/09/2025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9C0BC2-923C-498A-9FC1-46FB3490DD7A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06690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Cause of death datasets have become available recently, which is nice</a:t>
            </a:r>
          </a:p>
          <a:p>
            <a:endParaRPr lang="en-GB" dirty="0"/>
          </a:p>
          <a:p>
            <a:r>
              <a:rPr lang="en-GB" dirty="0"/>
              <a:t>Coding cause of death by hand takes a lot of time and nearly impossible to code a full dataset</a:t>
            </a:r>
          </a:p>
          <a:p>
            <a:endParaRPr lang="en-GB" dirty="0"/>
          </a:p>
          <a:p>
            <a:r>
              <a:rPr lang="en-GB" dirty="0"/>
              <a:t>Machine learning (might) be a great help here, to classify some of the dataset and use for training to classify the rest!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C0BC2-923C-498A-9FC1-46FB3490DD7A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638723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GB" dirty="0"/>
              <a:t>550.000 individuals in the dataset, 16.000 unique death causes</a:t>
            </a:r>
          </a:p>
          <a:p>
            <a:pPr marL="171450" indent="-171450">
              <a:buFontTx/>
              <a:buChar char="-"/>
            </a:pPr>
            <a:endParaRPr lang="en-GB" dirty="0"/>
          </a:p>
          <a:p>
            <a:r>
              <a:rPr lang="en-GB" dirty="0"/>
              <a:t>76% have been hand-coded, which covers around 30% of the individual cases.</a:t>
            </a:r>
          </a:p>
          <a:p>
            <a:endParaRPr lang="en-GB" dirty="0"/>
          </a:p>
          <a:p>
            <a:r>
              <a:rPr lang="en-GB" dirty="0"/>
              <a:t>To study how model precisions evolve, we created a subset using only classified causes of death, simulating a 100% classified dataset</a:t>
            </a:r>
          </a:p>
          <a:p>
            <a:endParaRPr lang="en-GB" dirty="0"/>
          </a:p>
          <a:p>
            <a:r>
              <a:rPr lang="en-GB" dirty="0"/>
              <a:t>Accurate prediction is the model hitting ICD10h *block*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*We are asking how much data is needed to be coded so a ML model can do the rest?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C0BC2-923C-498A-9FC1-46FB3490DD7A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40621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way you select cause-of-deaths to classify matters.</a:t>
            </a:r>
          </a:p>
          <a:p>
            <a:endParaRPr lang="en-GB" dirty="0"/>
          </a:p>
          <a:p>
            <a:r>
              <a:rPr lang="en-GB" dirty="0"/>
              <a:t>Two main ways of doing it:</a:t>
            </a:r>
          </a:p>
          <a:p>
            <a:pPr marL="228600" indent="-228600">
              <a:buAutoNum type="arabicPeriod"/>
            </a:pPr>
            <a:r>
              <a:rPr lang="en-GB" dirty="0"/>
              <a:t>top-down, ordering by most to least frequent, and classifying from the top.</a:t>
            </a:r>
          </a:p>
          <a:p>
            <a:pPr marL="228600" indent="-228600">
              <a:buAutoNum type="arabicPeriod"/>
            </a:pPr>
            <a:r>
              <a:rPr lang="en-GB" dirty="0"/>
              <a:t>randomly selecting from the dataset</a:t>
            </a:r>
          </a:p>
          <a:p>
            <a:pPr marL="228600" indent="-228600">
              <a:buAutoNum type="arabicPeriod"/>
            </a:pPr>
            <a:endParaRPr lang="en-GB" dirty="0"/>
          </a:p>
          <a:p>
            <a:pPr marL="0" indent="0">
              <a:buNone/>
            </a:pPr>
            <a:r>
              <a:rPr lang="en-GB" dirty="0"/>
              <a:t>Look at the figure, </a:t>
            </a:r>
          </a:p>
          <a:p>
            <a:pPr marL="0" indent="0">
              <a:buNone/>
            </a:pPr>
            <a:r>
              <a:rPr lang="en-GB" dirty="0"/>
              <a:t>x-axis is % of dataset</a:t>
            </a:r>
          </a:p>
          <a:p>
            <a:pPr marL="0" indent="0">
              <a:buNone/>
            </a:pPr>
            <a:r>
              <a:rPr lang="en-GB" dirty="0"/>
              <a:t>y-axis is model accuracy (on a test-set)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Random selection is better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C0BC2-923C-498A-9FC1-46FB3490DD7A}" type="slidenum">
              <a:rPr lang="en-DK" smtClean="0"/>
              <a:t>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354258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E1583-57A5-D5D1-DACF-78D700D89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5357A3-F24D-931B-93FB-F1A16854E5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BBF3F3-571F-735E-EB13-EA1E4D1F9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There’s a third option for selecting how you classify causes of death: active learning, machine learning technique</a:t>
            </a:r>
          </a:p>
          <a:p>
            <a:endParaRPr lang="en-GB" dirty="0"/>
          </a:p>
          <a:p>
            <a:r>
              <a:rPr lang="en-GB" dirty="0"/>
              <a:t>The method allows you to be part of the training process, getting feedback from the model along the way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Initially, you have a classified set (either top-down or randomly). Here 10%.</a:t>
            </a:r>
          </a:p>
          <a:p>
            <a:endParaRPr lang="en-GB" dirty="0"/>
          </a:p>
          <a:p>
            <a:r>
              <a:rPr lang="en-GB" dirty="0"/>
              <a:t>Here, model tells you which unclassified causes of death it’s most uncertain about</a:t>
            </a:r>
          </a:p>
          <a:p>
            <a:endParaRPr lang="en-GB" dirty="0"/>
          </a:p>
          <a:p>
            <a:r>
              <a:rPr lang="en-GB" dirty="0"/>
              <a:t>These are the causes which you must classify, as the model gains most from them</a:t>
            </a:r>
          </a:p>
          <a:p>
            <a:endParaRPr lang="en-GB" dirty="0"/>
          </a:p>
          <a:p>
            <a:r>
              <a:rPr lang="en-GB" dirty="0"/>
              <a:t>Then you add them to the classified dataset and train a new model using this – model gives uncertainty, and this loop continues.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49003-21A9-6CBC-2B67-F4D3E58DA1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C0BC2-923C-498A-9FC1-46FB3490DD7A}" type="slidenum">
              <a:rPr lang="en-DK" smtClean="0"/>
              <a:t>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939326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CBF76-4CC6-49C3-52ED-B61D794DC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43F80D-BEB3-CFE6-CADE-B9E9DFD057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87A727-0FEA-7DD5-7EE2-AE3680A61B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Random selection &gt; top down</a:t>
            </a:r>
          </a:p>
          <a:p>
            <a:endParaRPr lang="en-GB" dirty="0"/>
          </a:p>
          <a:p>
            <a:r>
              <a:rPr lang="en-GB" dirty="0"/>
              <a:t>Active learning outperforms passive learning, but both will eventually converge</a:t>
            </a:r>
          </a:p>
          <a:p>
            <a:endParaRPr lang="en-GB" dirty="0"/>
          </a:p>
          <a:p>
            <a:r>
              <a:rPr lang="en-GB" dirty="0"/>
              <a:t>Active learning &gt; random selection</a:t>
            </a:r>
          </a:p>
          <a:p>
            <a:endParaRPr lang="en-GB" dirty="0"/>
          </a:p>
          <a:p>
            <a:r>
              <a:rPr lang="en-GB" dirty="0"/>
              <a:t>Detailed datasets that provide context is great for machine learning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B9FB9-BCC3-503E-7E03-C3C7636619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C0BC2-923C-498A-9FC1-46FB3490DD7A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03690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40C41-DA09-B7BB-B5EF-37688BF240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9F24A-B3F5-D623-2CE5-86DEE6FD37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7F915-356F-6B3A-5D0F-0BD19DDA2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E14DF-A9FB-428A-80D1-4AE1368EB34C}" type="datetimeFigureOut">
              <a:rPr lang="en-DK" smtClean="0"/>
              <a:t>10/09/2025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F313A-16CB-3F03-A2AA-C35AF42C8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1E6F4-C618-745B-56B6-DC7A093CB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A9504-8341-4FBA-8EE1-61CBCE3E7233}" type="slidenum">
              <a:rPr lang="en-DK" smtClean="0"/>
              <a:t>‹#›</a:t>
            </a:fld>
            <a:endParaRPr lang="en-DK"/>
          </a:p>
        </p:txBody>
      </p:sp>
      <p:pic>
        <p:nvPicPr>
          <p:cNvPr id="1030" name="Picture 6" descr="PandemiX Center | Roskilde Universitet">
            <a:extLst>
              <a:ext uri="{FF2B5EF4-FFF2-40B4-BE49-F238E27FC236}">
                <a16:creationId xmlns:a16="http://schemas.microsoft.com/office/drawing/2014/main" id="{3FACF8F4-5B21-C276-BB52-255FDEB7774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1100" y="23813"/>
            <a:ext cx="2048932" cy="170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0002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05542-3A7E-D4F3-2301-28BEDEC63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42BD7-BECA-5CA4-9229-00BCCD62E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FEE13-ECE0-2CAD-60A0-CEEF8E8E6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E14DF-A9FB-428A-80D1-4AE1368EB34C}" type="datetimeFigureOut">
              <a:rPr lang="en-DK" smtClean="0"/>
              <a:t>10/09/2025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97CE1-7199-0CF7-BD91-C1BE2EE79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FEBAE-2455-A9AC-7A37-C7658A0DF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A9504-8341-4FBA-8EE1-61CBCE3E723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16103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7C5A2-1085-7E51-4F00-1A9FA9355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5CAD1-3724-337B-2519-BF2B4A66B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4625A-30A3-88FD-AF0E-0AC887745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E14DF-A9FB-428A-80D1-4AE1368EB34C}" type="datetimeFigureOut">
              <a:rPr lang="en-DK" smtClean="0"/>
              <a:t>10/09/2025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8321E-78C0-3B3A-DFFB-9561A7110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55848-BAD9-2E78-1F55-0E5E95860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A9504-8341-4FBA-8EE1-61CBCE3E723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85101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AE333-DB6C-0390-D460-8586A627E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AD9EF-E646-0EB8-0987-C59D5A6084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0D1806-3F5F-33F9-5417-68F5A89A58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A75C2-7197-59B4-B85A-715C5A35A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E14DF-A9FB-428A-80D1-4AE1368EB34C}" type="datetimeFigureOut">
              <a:rPr lang="en-DK" smtClean="0"/>
              <a:t>10/09/2025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F6E59-4A44-49CB-B8EC-074C226ED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372FF-C782-1BAB-2750-48376190E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A9504-8341-4FBA-8EE1-61CBCE3E723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9039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A5159-9A55-58AA-39AA-8818136F9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EA7072-C84C-EA41-E15F-3B3095677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7AEE4-D500-A1B9-3BAA-EF7585C929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AAF605-0D7E-FBE4-087C-BA48BB5E4C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4DADC8-A96A-091E-166B-82DB95CEB8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777EF8-7604-F52D-0DFA-CE45A198B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E14DF-A9FB-428A-80D1-4AE1368EB34C}" type="datetimeFigureOut">
              <a:rPr lang="en-DK" smtClean="0"/>
              <a:t>10/09/2025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5BFBC5-AC14-226D-3C47-D2DF70A85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83E0F7-EB85-F8A2-84DB-E6D85DA43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A9504-8341-4FBA-8EE1-61CBCE3E723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63498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426F6-892C-0C60-178C-80CA541F0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1BAB51-9C9E-7B85-122E-00F41B3DF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E14DF-A9FB-428A-80D1-4AE1368EB34C}" type="datetimeFigureOut">
              <a:rPr lang="en-DK" smtClean="0"/>
              <a:t>10/09/2025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768C50-8628-87ED-7E63-6E21C8F2B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0D2C23-7C45-C68F-113B-685EFDD52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A9504-8341-4FBA-8EE1-61CBCE3E723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43914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C89B13-CB9D-1B7D-795C-E68F5D895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E14DF-A9FB-428A-80D1-4AE1368EB34C}" type="datetimeFigureOut">
              <a:rPr lang="en-DK" smtClean="0"/>
              <a:t>10/09/2025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423FA2-6F22-492C-EA84-4FDE7D8DB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9639D-2B13-44CD-840F-3876A1A08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A9504-8341-4FBA-8EE1-61CBCE3E723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55966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AF535-A846-EDAD-14BB-63D671BEF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537DF-4237-6088-1208-D4E970DA3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9F7045-01A4-4BA0-A424-C6A7C190B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20CD77-EEB7-F67B-883A-5CC1ED5DF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E14DF-A9FB-428A-80D1-4AE1368EB34C}" type="datetimeFigureOut">
              <a:rPr lang="en-DK" smtClean="0"/>
              <a:t>10/09/2025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B8E798-A648-7757-E810-4EEC5E5BB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588AFE-085B-6CFA-C018-004F6652D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A9504-8341-4FBA-8EE1-61CBCE3E723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55447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7E113-BB7F-5C58-8535-9D499B7E5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93314A-51BF-58E0-D2B9-EE5CF2D751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2ED2CA-1EB8-EDAD-5F12-A595A8860D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3D559F-E273-AB9C-EE8A-BECA4C219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E14DF-A9FB-428A-80D1-4AE1368EB34C}" type="datetimeFigureOut">
              <a:rPr lang="en-DK" smtClean="0"/>
              <a:t>10/09/2025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2990FD-0BF1-F6EE-A645-C13D88096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78C79B-9C37-8C25-6DEA-CAEB37B83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A9504-8341-4FBA-8EE1-61CBCE3E723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55062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7522A-BF76-3796-8934-CDB8CCF6F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8FBB72-CA37-266D-434A-5E9E96F2F9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703A1-C15D-78A3-5C2E-2F3C5E1B9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E14DF-A9FB-428A-80D1-4AE1368EB34C}" type="datetimeFigureOut">
              <a:rPr lang="en-DK" smtClean="0"/>
              <a:t>10/09/2025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F9A41-1094-3116-FF81-081C782A5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5B39B-2FC7-7A1D-73D1-868C18FF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A9504-8341-4FBA-8EE1-61CBCE3E723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00855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794153-5AB3-1CC9-490D-F636E83524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220ADC-185D-AF96-597C-A9A6E7163C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65DCF-5B79-E9F0-562D-434079F61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E14DF-A9FB-428A-80D1-4AE1368EB34C}" type="datetimeFigureOut">
              <a:rPr lang="en-DK" smtClean="0"/>
              <a:t>10/09/2025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99CB3-5527-B2F2-D4D5-524F992DF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E2BEA-7566-9912-8E4B-1DECF0629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A9504-8341-4FBA-8EE1-61CBCE3E723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764083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183BE-AB7A-9F71-CAA2-D0430AFB8C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047278-A090-7205-C585-F5F1CC44E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35B19-C419-1784-6037-0962F688A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2A7E-2FCB-4CA4-BB3C-C258202DAB1B}" type="datetimeFigureOut">
              <a:rPr lang="en-DK" smtClean="0"/>
              <a:t>10/09/2025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831B7-FF4F-24F6-8A08-E60C2D98F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8F49D-60A4-5CE7-E00A-EA908443F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82700-5665-41C8-9F24-C84829C30AA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415922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65AD8-7045-D9E4-A824-4EA83DA41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AC835-0B02-5B11-52DF-9032EAC2B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24340-3293-EDB6-2ADD-17A326A2C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2A7E-2FCB-4CA4-BB3C-C258202DAB1B}" type="datetimeFigureOut">
              <a:rPr lang="en-DK" smtClean="0"/>
              <a:t>10/09/2025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10300-6B7B-E53A-23E2-43C4B9935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58A66-7E9B-7274-9CCB-112BDCBC3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82700-5665-41C8-9F24-C84829C30AA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995782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4730B-A3EA-FE8F-0BA1-AF2B8DF03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1A883-1FE9-88EE-F149-A0B27B4FD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F0E2D-39FF-5F87-4E5B-ABB87E789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2A7E-2FCB-4CA4-BB3C-C258202DAB1B}" type="datetimeFigureOut">
              <a:rPr lang="en-DK" smtClean="0"/>
              <a:t>10/09/2025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3FB76-E5D2-AF40-ED40-92034F205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55C12-B482-B4EB-02EF-2C444110F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82700-5665-41C8-9F24-C84829C30AA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1366057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5F7BB-6E79-1908-7EF7-8ECC6667A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704C1-5973-54E2-6F15-5F2A4E20A4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D9E6D4-9295-FB91-B7CE-8F2B2AC37D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540BF1-A50E-8521-F5ED-C1615BF4C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2A7E-2FCB-4CA4-BB3C-C258202DAB1B}" type="datetimeFigureOut">
              <a:rPr lang="en-DK" smtClean="0"/>
              <a:t>10/09/2025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AA6828-8153-6539-BF45-9A30BD388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961CB-139B-F69F-C201-4412D0744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82700-5665-41C8-9F24-C84829C30AA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827790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51576-EC5A-8470-AEA3-CBF8D69CD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60CE85-9B1B-7961-4279-B2205C4C4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0E127C-D41D-696B-36CC-7137180D8D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7F7EC5-192C-E2EF-B60F-D3CFA204EE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554F42-574C-F8CC-2754-BDB02C43E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184D82-786F-6846-523A-D4E59DF34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2A7E-2FCB-4CA4-BB3C-C258202DAB1B}" type="datetimeFigureOut">
              <a:rPr lang="en-DK" smtClean="0"/>
              <a:t>10/09/2025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633025-D854-090F-FE5B-850CDDE41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51F8F0-DB07-6CE7-7A68-8D8B1E753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82700-5665-41C8-9F24-C84829C30AA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393482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EF094-317F-9F2F-1882-8D076F92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1E696D-B0FE-8B05-CDDD-66A7B923E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2A7E-2FCB-4CA4-BB3C-C258202DAB1B}" type="datetimeFigureOut">
              <a:rPr lang="en-DK" smtClean="0"/>
              <a:t>10/09/2025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464A6F-7BB5-0B9E-9C88-B176F9BD6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4571A1-533C-B7BD-AC11-FDC2BA6A2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82700-5665-41C8-9F24-C84829C30AA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509138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64301E-9E33-6A3C-CFF6-9B9EB85A8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2A7E-2FCB-4CA4-BB3C-C258202DAB1B}" type="datetimeFigureOut">
              <a:rPr lang="en-DK" smtClean="0"/>
              <a:t>10/09/2025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4F13A1-71AC-B708-B694-96CC25F93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EE8BD-80F8-A1DF-7BC2-642578E25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82700-5665-41C8-9F24-C84829C30AA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114622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576E7-F8C2-E317-A9D5-01AC878BF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9E992-1D62-5E4C-8EB0-A0D5CBDA8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923E3C-1FB4-41E5-24CD-89ECA24EA9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CB217-F19F-DC9A-E147-84FBFA6C1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2A7E-2FCB-4CA4-BB3C-C258202DAB1B}" type="datetimeFigureOut">
              <a:rPr lang="en-DK" smtClean="0"/>
              <a:t>10/09/2025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DC563-D7C3-E77A-E1C3-891C5548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0ADA59-9A04-C178-3E57-F8782FA3D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82700-5665-41C8-9F24-C84829C30AA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927049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102F4-172C-549F-7BFD-68F40B4F5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834255-DE91-3F6D-21CE-78B08C0D44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F41FB6-86BD-F77F-34C5-4005C2803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68DAE8-6007-ABA9-93FA-EA5F15FF2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2A7E-2FCB-4CA4-BB3C-C258202DAB1B}" type="datetimeFigureOut">
              <a:rPr lang="en-DK" smtClean="0"/>
              <a:t>10/09/2025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56567-C79E-7DB8-7264-DDD276F90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2F3B0B-E503-76E4-BD58-E35F3840B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82700-5665-41C8-9F24-C84829C30AA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664906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4E436-E9CC-794B-FBEC-5485E69FF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10916-B70D-4687-E2C8-8CF7FA3954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B7480-D01B-A709-E7E2-939B540F3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2A7E-2FCB-4CA4-BB3C-C258202DAB1B}" type="datetimeFigureOut">
              <a:rPr lang="en-DK" smtClean="0"/>
              <a:t>10/09/2025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9993A-70A2-0D3F-77CC-03608673E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04F3B-1E3A-113D-B7FB-55EA8C1F7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82700-5665-41C8-9F24-C84829C30AA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739142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31DAAB-8C67-CECD-136E-03C23F5359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70268-25F3-BB93-6A7D-EB11175E42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1F3A0-0778-9D6C-147A-5EACF4C95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2A7E-2FCB-4CA4-BB3C-C258202DAB1B}" type="datetimeFigureOut">
              <a:rPr lang="en-DK" smtClean="0"/>
              <a:t>10/09/2025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FB1B5-5B7C-3571-B211-046094412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84190-DBDD-5A88-D2B1-D839C5A35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82700-5665-41C8-9F24-C84829C30AA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54159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8D6ABE-D966-9A5E-4F7C-55BC578B2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19580-7842-D663-87BC-99C1BE0BF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5A572-E48D-C753-66E2-14A02317F8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CE14DF-A9FB-428A-80D1-4AE1368EB34C}" type="datetimeFigureOut">
              <a:rPr lang="en-DK" smtClean="0"/>
              <a:t>10/09/2025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5E2AB-20DB-7279-0F8C-BA5BCE358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2BEF3-5276-EBD4-F7CB-5B45934FC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5A9504-8341-4FBA-8EE1-61CBCE3E7233}" type="slidenum">
              <a:rPr lang="en-DK" smtClean="0"/>
              <a:t>‹#›</a:t>
            </a:fld>
            <a:endParaRPr lang="en-DK"/>
          </a:p>
        </p:txBody>
      </p:sp>
      <p:pic>
        <p:nvPicPr>
          <p:cNvPr id="7" name="Picture 6" descr="PandemiX Center | Roskilde Universitet">
            <a:extLst>
              <a:ext uri="{FF2B5EF4-FFF2-40B4-BE49-F238E27FC236}">
                <a16:creationId xmlns:a16="http://schemas.microsoft.com/office/drawing/2014/main" id="{227B831E-93EB-D587-BB02-1B2E8E6C33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1100" y="23813"/>
            <a:ext cx="2048932" cy="170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52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99D83D-54BA-AFAF-F1FF-E64526BF4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72DAE5-BFB9-7FBD-948F-F55FA21DC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66F25-6220-5145-EA7E-D1432CEAB5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7A2A7E-2FCB-4CA4-BB3C-C258202DAB1B}" type="datetimeFigureOut">
              <a:rPr lang="en-DK" smtClean="0"/>
              <a:t>10/09/2025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230B4-4FFC-F2EB-B408-D11868FC81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0119A-B7E8-2167-1C86-BC5B53AA9A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682700-5665-41C8-9F24-C84829C30AA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22746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91E8A68E-A571-77E0-56C9-D17C889A3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89844" l="391" r="93685">
                        <a14:foregroundMark x1="75651" y1="10156" x2="80794" y2="10254"/>
                        <a14:foregroundMark x1="80794" y1="10254" x2="86133" y2="9961"/>
                        <a14:foregroundMark x1="86133" y1="9961" x2="96029" y2="20898"/>
                        <a14:foregroundMark x1="96029" y1="20898" x2="93685" y2="27344"/>
                        <a14:foregroundMark x1="93685" y1="27344" x2="84766" y2="36035"/>
                        <a14:foregroundMark x1="84766" y1="36035" x2="74870" y2="35840"/>
                        <a14:foregroundMark x1="74870" y1="35840" x2="73828" y2="22656"/>
                        <a14:foregroundMark x1="73828" y1="22656" x2="75651" y2="10645"/>
                        <a14:foregroundMark x1="391" y1="23242" x2="53385" y2="17578"/>
                        <a14:foregroundMark x1="53385" y1="17578" x2="69401" y2="30762"/>
                        <a14:foregroundMark x1="69401" y1="30762" x2="76953" y2="48926"/>
                        <a14:foregroundMark x1="76953" y1="48926" x2="83398" y2="55957"/>
                        <a14:foregroundMark x1="83398" y1="55957" x2="96289" y2="61230"/>
                        <a14:foregroundMark x1="96289" y1="61230" x2="99154" y2="67188"/>
                        <a14:foregroundMark x1="99154" y1="67188" x2="98242" y2="89063"/>
                        <a14:foregroundMark x1="98242" y1="89063" x2="96029" y2="95508"/>
                        <a14:foregroundMark x1="96029" y1="95508" x2="22917" y2="82617"/>
                        <a14:foregroundMark x1="22917" y1="82617" x2="1172" y2="70215"/>
                        <a14:foregroundMark x1="1172" y1="70215" x2="391" y2="24707"/>
                        <a14:foregroundMark x1="391" y1="24707" x2="456" y2="23535"/>
                        <a14:foregroundMark x1="32292" y1="43457" x2="37826" y2="47168"/>
                        <a14:foregroundMark x1="37826" y1="47168" x2="44141" y2="42578"/>
                        <a14:foregroundMark x1="44141" y1="42578" x2="36003" y2="44727"/>
                        <a14:foregroundMark x1="36003" y1="44727" x2="44206" y2="43359"/>
                        <a14:foregroundMark x1="44206" y1="43359" x2="36133" y2="42285"/>
                        <a14:foregroundMark x1="36133" y1="42285" x2="53125" y2="44531"/>
                        <a14:foregroundMark x1="53125" y1="44531" x2="55990" y2="4238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-87549"/>
            <a:ext cx="9635247" cy="6423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423D8335-4424-BBFC-68F9-0E4082DE7F3C}"/>
              </a:ext>
            </a:extLst>
          </p:cNvPr>
          <p:cNvSpPr txBox="1">
            <a:spLocks/>
          </p:cNvSpPr>
          <p:nvPr/>
        </p:nvSpPr>
        <p:spPr>
          <a:xfrm>
            <a:off x="872720" y="503803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dirty="0">
                <a:latin typeface="Bahnschrift Light Condensed" panose="020B0502040204020203" pitchFamily="34" charset="0"/>
              </a:rPr>
              <a:t>Lucas Mortensen &amp; Mads Perner</a:t>
            </a:r>
          </a:p>
          <a:p>
            <a:pPr algn="l"/>
            <a:r>
              <a:rPr lang="en-GB" dirty="0">
                <a:latin typeface="Bahnschrift Light Condensed" panose="020B0502040204020203" pitchFamily="34" charset="0"/>
              </a:rPr>
              <a:t>Student Research Assistant @ </a:t>
            </a:r>
            <a:r>
              <a:rPr lang="en-GB" dirty="0" err="1">
                <a:latin typeface="Bahnschrift Light Condensed" panose="020B0502040204020203" pitchFamily="34" charset="0"/>
              </a:rPr>
              <a:t>PandemiX</a:t>
            </a:r>
            <a:r>
              <a:rPr lang="en-GB" dirty="0">
                <a:latin typeface="Bahnschrift Light Condensed" panose="020B0502040204020203" pitchFamily="34" charset="0"/>
              </a:rPr>
              <a:t> </a:t>
            </a:r>
            <a:r>
              <a:rPr lang="en-GB" dirty="0" err="1">
                <a:latin typeface="Bahnschrift Light Condensed" panose="020B0502040204020203" pitchFamily="34" charset="0"/>
              </a:rPr>
              <a:t>Center</a:t>
            </a:r>
            <a:r>
              <a:rPr lang="en-GB" dirty="0">
                <a:latin typeface="Bahnschrift Light Condensed" panose="020B0502040204020203" pitchFamily="34" charset="0"/>
              </a:rPr>
              <a:t> </a:t>
            </a:r>
          </a:p>
          <a:p>
            <a:pPr algn="l"/>
            <a:r>
              <a:rPr lang="en-GB" dirty="0">
                <a:latin typeface="Bahnschrift Light Condensed" panose="020B0502040204020203" pitchFamily="34" charset="0"/>
              </a:rPr>
              <a:t>Roskilde University, Denmark</a:t>
            </a:r>
          </a:p>
        </p:txBody>
      </p:sp>
      <p:pic>
        <p:nvPicPr>
          <p:cNvPr id="1026" name="Picture 2" descr="Danmarks Grundforskningsfond / Danish National Research Foundation">
            <a:extLst>
              <a:ext uri="{FF2B5EF4-FFF2-40B4-BE49-F238E27FC236}">
                <a16:creationId xmlns:a16="http://schemas.microsoft.com/office/drawing/2014/main" id="{AC8BFE7C-4C98-F6CC-9893-52E3B1BCBD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6" t="16946" r="5825" b="21225"/>
          <a:stretch/>
        </p:blipFill>
        <p:spPr bwMode="auto">
          <a:xfrm>
            <a:off x="10252954" y="5818311"/>
            <a:ext cx="1815830" cy="875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4953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C5588-A6B2-AB5C-762D-414EC7723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Motivation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EDA4D-F5BD-4D28-5324-A9C117D52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Large cause-of-death datasets have become available in recent years </a:t>
            </a:r>
          </a:p>
          <a:p>
            <a:endParaRPr lang="en-GB" sz="2400" dirty="0"/>
          </a:p>
          <a:p>
            <a:r>
              <a:rPr lang="en-GB" sz="2400" dirty="0"/>
              <a:t>Coding causes of d	</a:t>
            </a:r>
            <a:r>
              <a:rPr lang="en-GB" sz="2400" dirty="0" err="1"/>
              <a:t>eath</a:t>
            </a:r>
            <a:r>
              <a:rPr lang="en-GB" sz="2400" dirty="0"/>
              <a:t> by hand is very time-consuming and it is often impossible to hand-code a full dataset</a:t>
            </a:r>
          </a:p>
          <a:p>
            <a:endParaRPr lang="en-GB" sz="2400" dirty="0"/>
          </a:p>
          <a:p>
            <a:r>
              <a:rPr lang="en-GB" sz="2400" dirty="0"/>
              <a:t>Machine Learning methods for automatic classification can probably help, but with what effort and precision?</a:t>
            </a:r>
          </a:p>
        </p:txBody>
      </p:sp>
    </p:spTree>
    <p:extLst>
      <p:ext uri="{BB962C8B-B14F-4D97-AF65-F5344CB8AC3E}">
        <p14:creationId xmlns:p14="http://schemas.microsoft.com/office/powerpoint/2010/main" val="3034700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8E95A-69FD-4FEA-E184-D58D31292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case: hand-coded causes from Copenhagen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3BA4A-07D2-9ACA-F301-895DA58C4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6961"/>
            <a:ext cx="702174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The data: ~ 550.000 individual-level burials from 1861 to 1940. Contains 15.776 unique causes of death. 16.3% of these have been hand-coded (top-down) to ICD10h, covering 86.6% of all deaths (in individualized dataset).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To study </a:t>
            </a:r>
            <a:r>
              <a:rPr lang="en-GB" sz="2000" b="1" dirty="0"/>
              <a:t>the trade-off between amount of training data and prediction accuracy </a:t>
            </a:r>
            <a:r>
              <a:rPr lang="en-GB" sz="2000" dirty="0"/>
              <a:t>in automatic classification, we use only the hand-coded causes to simulate a 100% coded dataset.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We define an accurate prediction by the model as one that hits the same ICD10h “block” as the manual coder.</a:t>
            </a:r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832BF859-BD73-2DF3-0B5C-367D29FF3B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786855"/>
              </p:ext>
            </p:extLst>
          </p:nvPr>
        </p:nvGraphicFramePr>
        <p:xfrm>
          <a:off x="8151779" y="1690688"/>
          <a:ext cx="3553837" cy="30278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9498">
                  <a:extLst>
                    <a:ext uri="{9D8B030D-6E8A-4147-A177-3AD203B41FA5}">
                      <a16:colId xmlns:a16="http://schemas.microsoft.com/office/drawing/2014/main" val="1085078205"/>
                    </a:ext>
                  </a:extLst>
                </a:gridCol>
                <a:gridCol w="2464339">
                  <a:extLst>
                    <a:ext uri="{9D8B030D-6E8A-4147-A177-3AD203B41FA5}">
                      <a16:colId xmlns:a16="http://schemas.microsoft.com/office/drawing/2014/main" val="739067066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da-DK" sz="1000" b="0" i="0" u="none" strike="noStrike" dirty="0">
                          <a:effectLst/>
                          <a:latin typeface="MS Sans Serif"/>
                        </a:rPr>
                        <a:t>ICD10h </a:t>
                      </a:r>
                      <a:r>
                        <a:rPr lang="da-DK" sz="1000" b="0" i="0" u="none" strike="noStrike" dirty="0" err="1">
                          <a:effectLst/>
                          <a:latin typeface="MS Sans Serif"/>
                        </a:rPr>
                        <a:t>code</a:t>
                      </a:r>
                      <a:endParaRPr lang="da-DK" sz="1000" b="0" i="0" u="none" strike="noStrike" dirty="0">
                        <a:effectLst/>
                        <a:latin typeface="MS Sans Serif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effectLst/>
                          <a:latin typeface="MS Sans Serif"/>
                        </a:rPr>
                        <a:t>Description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8342315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da-DK" sz="1000" b="1" u="none" strike="noStrike" dirty="0">
                          <a:effectLst/>
                        </a:rPr>
                        <a:t>B03</a:t>
                      </a:r>
                      <a:r>
                        <a:rPr lang="da-DK" sz="1000" u="none" strike="noStrike" dirty="0">
                          <a:effectLst/>
                        </a:rPr>
                        <a:t>.000</a:t>
                      </a:r>
                      <a:endParaRPr lang="da-DK" sz="1000" b="0" i="0" u="none" strike="noStrike" dirty="0">
                        <a:effectLst/>
                        <a:latin typeface="MS Sans Serif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smallpox not known if vaccinated</a:t>
                      </a:r>
                      <a:endParaRPr lang="en-US" sz="1000" b="0" i="0" u="none" strike="noStrike" dirty="0">
                        <a:effectLst/>
                        <a:latin typeface="MS Sans Serif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9760376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da-DK" sz="1000" b="1" u="none" strike="noStrike" dirty="0">
                          <a:effectLst/>
                        </a:rPr>
                        <a:t>B03</a:t>
                      </a:r>
                      <a:r>
                        <a:rPr lang="da-DK" sz="1000" u="none" strike="noStrike" dirty="0">
                          <a:effectLst/>
                        </a:rPr>
                        <a:t>.001</a:t>
                      </a:r>
                      <a:endParaRPr lang="da-DK" sz="1000" b="0" i="0" u="none" strike="noStrike" dirty="0">
                        <a:effectLst/>
                        <a:latin typeface="MS Sans Serif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smallpox not known if vaccinated (</a:t>
                      </a:r>
                      <a:r>
                        <a:rPr lang="en-US" sz="1000" u="none" strike="noStrike" dirty="0" err="1">
                          <a:effectLst/>
                        </a:rPr>
                        <a:t>blackpox</a:t>
                      </a:r>
                      <a:r>
                        <a:rPr lang="en-US" sz="1000" u="none" strike="noStrike" dirty="0">
                          <a:effectLst/>
                        </a:rPr>
                        <a:t>)</a:t>
                      </a:r>
                      <a:endParaRPr lang="en-US" sz="1000" b="0" i="0" u="none" strike="noStrike" dirty="0">
                        <a:effectLst/>
                        <a:latin typeface="MS Sans Serif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61146036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da-DK" sz="1000" b="1" u="none" strike="noStrike" dirty="0">
                          <a:effectLst/>
                        </a:rPr>
                        <a:t>B03</a:t>
                      </a:r>
                      <a:r>
                        <a:rPr lang="da-DK" sz="1000" u="none" strike="noStrike" dirty="0">
                          <a:effectLst/>
                        </a:rPr>
                        <a:t>.002</a:t>
                      </a:r>
                      <a:endParaRPr lang="da-DK" sz="1000" b="0" i="0" u="none" strike="noStrike" dirty="0">
                        <a:effectLst/>
                        <a:latin typeface="MS Sans Serif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000" u="none" strike="noStrike" dirty="0" err="1">
                          <a:effectLst/>
                        </a:rPr>
                        <a:t>smallpox</a:t>
                      </a:r>
                      <a:r>
                        <a:rPr lang="da-DK" sz="1000" u="none" strike="noStrike" dirty="0">
                          <a:effectLst/>
                        </a:rPr>
                        <a:t> not </a:t>
                      </a:r>
                      <a:r>
                        <a:rPr lang="da-DK" sz="1000" u="none" strike="noStrike" dirty="0" err="1">
                          <a:effectLst/>
                        </a:rPr>
                        <a:t>vaccinated</a:t>
                      </a:r>
                      <a:endParaRPr lang="da-DK" sz="1000" b="0" i="0" u="none" strike="noStrike" dirty="0">
                        <a:effectLst/>
                        <a:latin typeface="MS Sans Serif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71697693"/>
                  </a:ext>
                </a:extLst>
              </a:tr>
              <a:tr h="294160">
                <a:tc>
                  <a:txBody>
                    <a:bodyPr/>
                    <a:lstStyle/>
                    <a:p>
                      <a:pPr algn="l" fontAlgn="b"/>
                      <a:r>
                        <a:rPr lang="da-DK" sz="1000" b="1" u="none" strike="noStrike" dirty="0">
                          <a:effectLst/>
                        </a:rPr>
                        <a:t>B05</a:t>
                      </a:r>
                      <a:r>
                        <a:rPr lang="da-DK" sz="1000" u="none" strike="noStrike" dirty="0">
                          <a:effectLst/>
                        </a:rPr>
                        <a:t>.000</a:t>
                      </a:r>
                      <a:endParaRPr lang="da-DK" sz="1000" b="0" i="0" u="none" strike="noStrike" dirty="0">
                        <a:effectLst/>
                        <a:latin typeface="MS Sans Serif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000" u="none" strike="noStrike" dirty="0" err="1">
                          <a:effectLst/>
                        </a:rPr>
                        <a:t>Measles</a:t>
                      </a:r>
                      <a:r>
                        <a:rPr lang="da-DK" sz="1000" u="none" strike="noStrike" dirty="0">
                          <a:effectLst/>
                        </a:rPr>
                        <a:t> </a:t>
                      </a:r>
                      <a:r>
                        <a:rPr lang="da-DK" sz="1000" u="none" strike="noStrike" dirty="0" err="1">
                          <a:effectLst/>
                        </a:rPr>
                        <a:t>complicated</a:t>
                      </a:r>
                      <a:r>
                        <a:rPr lang="da-DK" sz="1000" u="none" strike="noStrike" dirty="0">
                          <a:effectLst/>
                        </a:rPr>
                        <a:t> by </a:t>
                      </a:r>
                      <a:r>
                        <a:rPr lang="da-DK" sz="1000" u="none" strike="noStrike" dirty="0" err="1">
                          <a:effectLst/>
                        </a:rPr>
                        <a:t>encephalitis</a:t>
                      </a:r>
                      <a:endParaRPr lang="da-DK" sz="1000" b="0" i="0" u="none" strike="noStrike" dirty="0">
                        <a:effectLst/>
                        <a:latin typeface="MS Sans Serif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4408579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da-DK" sz="1000" b="1" u="none" strike="noStrike" dirty="0">
                          <a:effectLst/>
                        </a:rPr>
                        <a:t>B05</a:t>
                      </a:r>
                      <a:r>
                        <a:rPr lang="da-DK" sz="1000" u="none" strike="noStrike" dirty="0">
                          <a:effectLst/>
                        </a:rPr>
                        <a:t>.100</a:t>
                      </a:r>
                      <a:endParaRPr lang="da-DK" sz="1000" b="0" i="0" u="none" strike="noStrike" dirty="0">
                        <a:effectLst/>
                        <a:latin typeface="MS Sans Serif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000" u="none" strike="noStrike">
                          <a:effectLst/>
                        </a:rPr>
                        <a:t>Measles complicated by meningitis</a:t>
                      </a:r>
                      <a:endParaRPr lang="da-DK" sz="1000" b="0" i="0" u="none" strike="noStrike">
                        <a:effectLst/>
                        <a:latin typeface="MS Sans Serif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3640086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da-DK" sz="1000" b="1" u="none" strike="noStrike" dirty="0">
                          <a:effectLst/>
                        </a:rPr>
                        <a:t>B05</a:t>
                      </a:r>
                      <a:r>
                        <a:rPr lang="da-DK" sz="1000" u="none" strike="noStrike" dirty="0">
                          <a:effectLst/>
                        </a:rPr>
                        <a:t>.200</a:t>
                      </a:r>
                      <a:endParaRPr lang="da-DK" sz="1000" b="0" i="0" u="none" strike="noStrike" dirty="0">
                        <a:effectLst/>
                        <a:latin typeface="MS Sans Serif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000" u="none" strike="noStrike">
                          <a:effectLst/>
                        </a:rPr>
                        <a:t>Measles complicated by pneumonia</a:t>
                      </a:r>
                      <a:endParaRPr lang="da-DK" sz="1000" b="0" i="0" u="none" strike="noStrike">
                        <a:effectLst/>
                        <a:latin typeface="MS Sans Serif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7388167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da-DK" sz="1000" b="1" u="none" strike="noStrike" dirty="0">
                          <a:effectLst/>
                        </a:rPr>
                        <a:t>B05</a:t>
                      </a:r>
                      <a:r>
                        <a:rPr lang="da-DK" sz="1000" u="none" strike="noStrike" dirty="0">
                          <a:effectLst/>
                        </a:rPr>
                        <a:t>.201</a:t>
                      </a:r>
                      <a:endParaRPr lang="da-DK" sz="1000" b="0" i="0" u="none" strike="noStrike" dirty="0">
                        <a:effectLst/>
                        <a:latin typeface="MS Sans Serif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Measles complicated by bronchitis or laryngitis</a:t>
                      </a:r>
                      <a:endParaRPr lang="en-US" sz="1000" b="0" i="0" u="none" strike="noStrike">
                        <a:effectLst/>
                        <a:latin typeface="MS Sans Serif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2230458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da-DK" sz="1000" b="1" u="none" strike="noStrike" dirty="0">
                          <a:effectLst/>
                        </a:rPr>
                        <a:t>B05</a:t>
                      </a:r>
                      <a:r>
                        <a:rPr lang="da-DK" sz="1000" u="none" strike="noStrike" dirty="0">
                          <a:effectLst/>
                        </a:rPr>
                        <a:t>.202</a:t>
                      </a:r>
                      <a:endParaRPr lang="da-DK" sz="1000" b="0" i="0" u="none" strike="noStrike" dirty="0">
                        <a:effectLst/>
                        <a:latin typeface="MS Sans Serif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Measles with other pulmonary complications</a:t>
                      </a:r>
                      <a:endParaRPr lang="en-US" sz="1000" b="0" i="0" u="none" strike="noStrike">
                        <a:effectLst/>
                        <a:latin typeface="MS Sans Serif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6792494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da-DK" sz="1000" b="1" u="none" strike="noStrike" dirty="0">
                          <a:effectLst/>
                        </a:rPr>
                        <a:t>B05</a:t>
                      </a:r>
                      <a:r>
                        <a:rPr lang="da-DK" sz="1000" u="none" strike="noStrike" dirty="0">
                          <a:effectLst/>
                        </a:rPr>
                        <a:t>.203</a:t>
                      </a:r>
                      <a:endParaRPr lang="da-DK" sz="1000" b="0" i="0" u="none" strike="noStrike" dirty="0">
                        <a:effectLst/>
                        <a:latin typeface="MS Sans Serif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000" u="none" strike="noStrike">
                          <a:effectLst/>
                        </a:rPr>
                        <a:t>measles complicated by phthisis</a:t>
                      </a:r>
                      <a:endParaRPr lang="da-DK" sz="1000" b="0" i="0" u="none" strike="noStrike">
                        <a:effectLst/>
                        <a:latin typeface="MS Sans Serif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00673936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da-DK" sz="1000" b="1" u="none" strike="noStrike" dirty="0">
                          <a:effectLst/>
                        </a:rPr>
                        <a:t>B05</a:t>
                      </a:r>
                      <a:r>
                        <a:rPr lang="da-DK" sz="1000" u="none" strike="noStrike" dirty="0">
                          <a:effectLst/>
                        </a:rPr>
                        <a:t>.300</a:t>
                      </a:r>
                      <a:endParaRPr lang="da-DK" sz="1000" b="0" i="0" u="none" strike="noStrike" dirty="0">
                        <a:effectLst/>
                        <a:latin typeface="MS Sans Serif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measles complicated by otitis media</a:t>
                      </a:r>
                      <a:endParaRPr lang="en-US" sz="1000" b="0" i="0" u="none" strike="noStrike">
                        <a:effectLst/>
                        <a:latin typeface="MS Sans Serif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9563712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da-DK" sz="1000" b="1" u="none" strike="noStrike" dirty="0">
                          <a:effectLst/>
                        </a:rPr>
                        <a:t>B05</a:t>
                      </a:r>
                      <a:r>
                        <a:rPr lang="da-DK" sz="1000" u="none" strike="noStrike" dirty="0">
                          <a:effectLst/>
                        </a:rPr>
                        <a:t>.400</a:t>
                      </a:r>
                      <a:endParaRPr lang="da-DK" sz="1000" b="0" i="0" u="none" strike="noStrike" dirty="0">
                        <a:effectLst/>
                        <a:latin typeface="MS Sans Serif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000" u="none" strike="noStrike">
                          <a:effectLst/>
                        </a:rPr>
                        <a:t>Measles with intestinal complications</a:t>
                      </a:r>
                      <a:endParaRPr lang="da-DK" sz="1000" b="0" i="0" u="none" strike="noStrike">
                        <a:effectLst/>
                        <a:latin typeface="MS Sans Serif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7662603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da-DK" sz="1000" b="1" u="none" strike="noStrike" dirty="0">
                          <a:effectLst/>
                        </a:rPr>
                        <a:t>B05</a:t>
                      </a:r>
                      <a:r>
                        <a:rPr lang="da-DK" sz="1000" u="none" strike="noStrike" dirty="0">
                          <a:effectLst/>
                        </a:rPr>
                        <a:t>.800</a:t>
                      </a:r>
                      <a:endParaRPr lang="da-DK" sz="1000" b="0" i="0" u="none" strike="noStrike" dirty="0">
                        <a:effectLst/>
                        <a:latin typeface="MS Sans Serif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000" u="none" strike="noStrike">
                          <a:effectLst/>
                        </a:rPr>
                        <a:t>measles with other complications</a:t>
                      </a:r>
                      <a:endParaRPr lang="da-DK" sz="1000" b="0" i="0" u="none" strike="noStrike">
                        <a:effectLst/>
                        <a:latin typeface="MS Sans Serif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1102412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da-DK" sz="1000" b="1" u="none" strike="noStrike" dirty="0">
                          <a:effectLst/>
                        </a:rPr>
                        <a:t>B05</a:t>
                      </a:r>
                      <a:r>
                        <a:rPr lang="da-DK" sz="1000" u="none" strike="noStrike" dirty="0">
                          <a:effectLst/>
                        </a:rPr>
                        <a:t>.801</a:t>
                      </a:r>
                      <a:endParaRPr lang="da-DK" sz="1000" b="0" i="0" u="none" strike="noStrike" dirty="0">
                        <a:effectLst/>
                        <a:latin typeface="MS Sans Serif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000" u="none" strike="noStrike">
                          <a:effectLst/>
                        </a:rPr>
                        <a:t>Measles with diphtheria</a:t>
                      </a:r>
                      <a:endParaRPr lang="da-DK" sz="1000" b="0" i="0" u="none" strike="noStrike">
                        <a:effectLst/>
                        <a:latin typeface="MS Sans Serif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34023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da-DK" sz="1000" b="1" u="none" strike="noStrike" dirty="0">
                          <a:effectLst/>
                        </a:rPr>
                        <a:t>B05</a:t>
                      </a:r>
                      <a:r>
                        <a:rPr lang="da-DK" sz="1000" u="none" strike="noStrike" dirty="0">
                          <a:effectLst/>
                        </a:rPr>
                        <a:t>.802</a:t>
                      </a:r>
                      <a:endParaRPr lang="da-DK" sz="1000" b="0" i="0" u="none" strike="noStrike" dirty="0">
                        <a:effectLst/>
                        <a:latin typeface="MS Sans Serif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1000" u="none" strike="noStrike">
                          <a:effectLst/>
                        </a:rPr>
                        <a:t>Measles with whooping cough</a:t>
                      </a:r>
                      <a:endParaRPr lang="da-DK" sz="1000" b="0" i="0" u="none" strike="noStrike">
                        <a:effectLst/>
                        <a:latin typeface="MS Sans Serif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95967109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da-DK" sz="1000" b="1" u="none" strike="noStrike" dirty="0">
                          <a:effectLst/>
                        </a:rPr>
                        <a:t>B05</a:t>
                      </a:r>
                      <a:r>
                        <a:rPr lang="da-DK" sz="1000" u="none" strike="noStrike" dirty="0">
                          <a:effectLst/>
                        </a:rPr>
                        <a:t>.900</a:t>
                      </a:r>
                      <a:endParaRPr lang="da-DK" sz="1000" b="0" i="0" u="none" strike="noStrike" dirty="0">
                        <a:effectLst/>
                        <a:latin typeface="MS Sans Serif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measles, no mention of complication</a:t>
                      </a:r>
                      <a:endParaRPr lang="en-US" sz="1000" b="0" i="0" u="none" strike="noStrike" dirty="0">
                        <a:effectLst/>
                        <a:latin typeface="MS Sans Serif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48522565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FA9B0534-7440-4484-4661-EF2D0F4E7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4853" y="5167312"/>
            <a:ext cx="4167687" cy="142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511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4D6BF-CBB5-AEFE-8F8D-1EE19D6B9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Selecting what to code </a:t>
            </a:r>
            <a:r>
              <a:rPr lang="en-GB" i="1" dirty="0"/>
              <a:t>matters</a:t>
            </a:r>
            <a:endParaRPr lang="en-DK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882BA-D8D6-5CC5-A900-C0C759EB7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161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The accuracy of the classification model is higher if the training data is randomly selected rather than selected from the top-down.</a:t>
            </a:r>
            <a:endParaRPr lang="en-DK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CF7E7E-30E3-C79C-DBEC-E600B9705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6655" y="2250271"/>
            <a:ext cx="5778690" cy="4607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90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AD0B7-8E31-76E1-8B11-9124544FE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E6F66-B19E-DE66-B6E7-DA22EF6EF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Active Learning: provide feedback during learning</a:t>
            </a:r>
            <a:endParaRPr lang="en-DK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0E0DF-8014-BA56-573F-5BB7B3CA8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1616"/>
            <a:ext cx="10515600" cy="4351338"/>
          </a:xfrm>
        </p:spPr>
        <p:txBody>
          <a:bodyPr/>
          <a:lstStyle/>
          <a:p>
            <a:r>
              <a:rPr lang="en-GB" sz="2000" dirty="0"/>
              <a:t>A method for creating more efficient training data when classification is particularly </a:t>
            </a:r>
            <a:r>
              <a:rPr lang="en-GB" sz="2000" i="1" dirty="0"/>
              <a:t>time-consuming</a:t>
            </a:r>
            <a:r>
              <a:rPr lang="en-GB" sz="2000" dirty="0"/>
              <a:t> or </a:t>
            </a:r>
            <a:r>
              <a:rPr lang="en-GB" sz="2000" i="1" dirty="0"/>
              <a:t>expensive</a:t>
            </a:r>
          </a:p>
          <a:p>
            <a:endParaRPr lang="en-DK" dirty="0"/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46BA0053-0813-D904-D1B8-2F2DD99EA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55" y="2504953"/>
            <a:ext cx="5370735" cy="3580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761D2CF-61CD-C8C3-A51D-1120C8AC5E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935" y="2504953"/>
            <a:ext cx="5370735" cy="428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556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6587B-CD19-0801-729E-91BB76B6D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EEC6A-802F-8865-EE6E-B66AC35EA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What does this mean?</a:t>
            </a:r>
            <a:endParaRPr lang="en-DK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91B08-4CF5-AA26-B090-9D6995E10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1615"/>
            <a:ext cx="10515600" cy="47155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dirty="0"/>
              <a:t>Random selection is better than top-down (for machine learning models)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Active learning outperforms passive learning, but there are diminishing returns from around 40% in our case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In all researched cases, (done correctly) </a:t>
            </a:r>
            <a:r>
              <a:rPr lang="en-GB" sz="1800" b="1" dirty="0"/>
              <a:t>active learning is better or just-as-good as random selection</a:t>
            </a:r>
            <a:r>
              <a:rPr lang="en-GB" sz="1800" dirty="0"/>
              <a:t>.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If you’re working with detailed datasets, like individualized (with age, gender, year, etc) machine learning methods could be great. </a:t>
            </a:r>
            <a:r>
              <a:rPr lang="en-GB" sz="1800" b="1" dirty="0"/>
              <a:t>Machine learning LOVES data!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538114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1510</TotalTime>
  <Words>730</Words>
  <Application>Microsoft Office PowerPoint</Application>
  <PresentationFormat>Widescreen</PresentationFormat>
  <Paragraphs>113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Bahnschrift Light Condensed</vt:lpstr>
      <vt:lpstr>MS Sans Serif</vt:lpstr>
      <vt:lpstr>Office Theme</vt:lpstr>
      <vt:lpstr>Custom Design</vt:lpstr>
      <vt:lpstr>PowerPoint Presentation</vt:lpstr>
      <vt:lpstr>Motivation</vt:lpstr>
      <vt:lpstr>Test case: hand-coded causes from Copenhagen</vt:lpstr>
      <vt:lpstr>Selecting what to code matters</vt:lpstr>
      <vt:lpstr>Active Learning: provide feedback during learning</vt:lpstr>
      <vt:lpstr>What does this mean?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Emil Bülow Mortensen</dc:creator>
  <cp:lastModifiedBy>Lucas Emil Bülow Mortensen</cp:lastModifiedBy>
  <cp:revision>76</cp:revision>
  <dcterms:created xsi:type="dcterms:W3CDTF">2025-08-26T08:19:34Z</dcterms:created>
  <dcterms:modified xsi:type="dcterms:W3CDTF">2025-09-10T15:46:02Z</dcterms:modified>
</cp:coreProperties>
</file>